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70" r:id="rId13"/>
    <p:sldId id="265" r:id="rId14"/>
  </p:sldIdLst>
  <p:sldSz cx="18288000" cy="10287000"/>
  <p:notesSz cx="6858000" cy="9144000"/>
  <p:embeddedFontLst>
    <p:embeddedFont>
      <p:font typeface="Bookman Old Style" panose="02050604050505020204" pitchFamily="18" charset="0"/>
      <p:regular r:id="rId15"/>
      <p:bold r:id="rId16"/>
      <p:italic r:id="rId17"/>
      <p:boldItalic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Gotham" panose="020B0604020202020204" charset="0"/>
      <p:regular r:id="rId23"/>
    </p:embeddedFont>
    <p:embeddedFont>
      <p:font typeface="Gotham Bold Italics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622" autoAdjust="0"/>
  </p:normalViewPr>
  <p:slideViewPr>
    <p:cSldViewPr>
      <p:cViewPr varScale="1">
        <p:scale>
          <a:sx n="52" d="100"/>
          <a:sy n="52" d="100"/>
        </p:scale>
        <p:origin x="1013" y="-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Inventory Control and Stock Tracking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M.Jahnavi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Satya– VTU25739–23UECS1078</a:t>
            </a: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(TTS4062),M.E..,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57400" y="1990762"/>
            <a:ext cx="15082325" cy="111722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ea typeface="+mn-lt"/>
                <a:cs typeface="+mn-lt"/>
              </a:rPr>
              <a:t>A Relational Inventory Control and Stock Tracking System is a database-driven solution used to manage and monitor inventory.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ea typeface="+mn-lt"/>
                <a:cs typeface="+mn-lt"/>
              </a:rPr>
              <a:t>It organizes data using a relational database structure with interconnected tables.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ea typeface="+mn-lt"/>
                <a:cs typeface="+mn-lt"/>
              </a:rPr>
              <a:t>Ensures data accuracy, consistency, and easy retrieval.</a:t>
            </a:r>
            <a:endParaRPr lang="en-US" sz="32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Tracks inventory levels and stock movements in real time.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Stores and manages product information efficiently.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Helps reduce manual errors in inventory handling.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Supports optimization of stock levels to avoid overstocking or shortages.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Maintains relationships between key entities such </a:t>
            </a:r>
            <a:r>
              <a:rPr lang="en-US" sz="3200" dirty="0" err="1"/>
              <a:t>as:Products,Suppliers,Orders,Transactions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581755" y="2578550"/>
            <a:ext cx="15082325" cy="121571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/>
              <a:t>Manual inventory management leads to errors and inefficiency. </a:t>
            </a:r>
          </a:p>
          <a:p>
            <a:endParaRPr lang="en-US" sz="2800" dirty="0"/>
          </a:p>
          <a:p>
            <a:r>
              <a:rPr lang="en-US" sz="2800" dirty="0"/>
              <a:t>Difficulty in tracking real-time stock levels .</a:t>
            </a:r>
          </a:p>
          <a:p>
            <a:endParaRPr lang="en-US" sz="2800" dirty="0"/>
          </a:p>
          <a:p>
            <a:r>
              <a:rPr lang="en-US" sz="2800" dirty="0"/>
              <a:t>Risk of overstocking and stock shortages .</a:t>
            </a:r>
          </a:p>
          <a:p>
            <a:endParaRPr lang="en-US" sz="2800" dirty="0"/>
          </a:p>
          <a:p>
            <a:r>
              <a:rPr lang="en-US" sz="2800" dirty="0"/>
              <a:t>Lack of centralized and organized data system . </a:t>
            </a:r>
          </a:p>
          <a:p>
            <a:endParaRPr lang="en-US" sz="2800" dirty="0"/>
          </a:p>
          <a:p>
            <a:r>
              <a:rPr lang="en-US" sz="2800" dirty="0"/>
              <a:t>Poor visibility of product, supplier, and transaction relationships.</a:t>
            </a:r>
          </a:p>
          <a:p>
            <a:endParaRPr lang="en-US" sz="2800" dirty="0"/>
          </a:p>
          <a:p>
            <a:r>
              <a:rPr lang="en-US" sz="2800" dirty="0"/>
              <a:t>Time-consuming report generation and decision-making.</a:t>
            </a:r>
          </a:p>
          <a:p>
            <a:endParaRPr lang="en-US" sz="2800" dirty="0"/>
          </a:p>
          <a:p>
            <a:r>
              <a:rPr lang="en-US" sz="2800" dirty="0"/>
              <a:t>Need for an accurate, reliable, and automated inventory system.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FED540C-C4AE-857E-CD5C-BC5C7DC07348}"/>
              </a:ext>
            </a:extLst>
          </p:cNvPr>
          <p:cNvSpPr/>
          <p:nvPr/>
        </p:nvSpPr>
        <p:spPr>
          <a:xfrm>
            <a:off x="2123893" y="3589760"/>
            <a:ext cx="97802" cy="794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1FA6A3-0378-4ED6-C4EE-C8BAEB4DDD58}"/>
              </a:ext>
            </a:extLst>
          </p:cNvPr>
          <p:cNvSpPr/>
          <p:nvPr/>
        </p:nvSpPr>
        <p:spPr>
          <a:xfrm>
            <a:off x="2117068" y="4445819"/>
            <a:ext cx="97802" cy="794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8E5007-61B4-DEA8-F474-6490F25BF0FA}"/>
              </a:ext>
            </a:extLst>
          </p:cNvPr>
          <p:cNvSpPr/>
          <p:nvPr/>
        </p:nvSpPr>
        <p:spPr>
          <a:xfrm>
            <a:off x="2117068" y="5286539"/>
            <a:ext cx="97802" cy="794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C53E21-DE41-1C8B-AA82-D9821F7C5C23}"/>
              </a:ext>
            </a:extLst>
          </p:cNvPr>
          <p:cNvSpPr/>
          <p:nvPr/>
        </p:nvSpPr>
        <p:spPr>
          <a:xfrm>
            <a:off x="2117068" y="6143996"/>
            <a:ext cx="97802" cy="794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EC42486-E303-11C4-A7CA-35D958C2923C}"/>
              </a:ext>
            </a:extLst>
          </p:cNvPr>
          <p:cNvSpPr/>
          <p:nvPr/>
        </p:nvSpPr>
        <p:spPr>
          <a:xfrm>
            <a:off x="2092572" y="6981399"/>
            <a:ext cx="97802" cy="794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61A372-DAC5-45AB-35A7-4E2592500976}"/>
              </a:ext>
            </a:extLst>
          </p:cNvPr>
          <p:cNvSpPr/>
          <p:nvPr/>
        </p:nvSpPr>
        <p:spPr>
          <a:xfrm>
            <a:off x="2117068" y="7856115"/>
            <a:ext cx="97802" cy="794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05E5413-CBFB-C518-AD1B-75C59847636A}"/>
              </a:ext>
            </a:extLst>
          </p:cNvPr>
          <p:cNvSpPr/>
          <p:nvPr/>
        </p:nvSpPr>
        <p:spPr>
          <a:xfrm>
            <a:off x="2123893" y="2727172"/>
            <a:ext cx="97802" cy="7942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36625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dirty="0">
                <a:ea typeface="+mn-lt"/>
                <a:cs typeface="+mn-lt"/>
              </a:rPr>
              <a:t>  </a:t>
            </a:r>
            <a:endParaRPr lang="en-US" sz="3600" dirty="0">
              <a:ea typeface="Calibri"/>
              <a:cs typeface="Calibri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660406-5097-AF65-4BD7-EE251FFE6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8"/>
            <a:ext cx="4114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9644E0-C6B5-DC62-8203-5F2D9BCF7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9099"/>
            <a:ext cx="6248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CE4B5B-B2D6-2431-636E-6949B0D91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160" y="1768558"/>
            <a:ext cx="10857652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an efficient inventory control and stock tracking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maintain accurate and real-time stock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organize data using a relational database 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manual errors and improve data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track product movement, suppliers, and transactions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quick and reliable reports for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optimize inventory levels and reduce operational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6526" y="1982349"/>
            <a:ext cx="15082325" cy="119417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The proposed system is a relational inventory control and stock tracking system using a database to manage inventory efficiently.</a:t>
            </a:r>
          </a:p>
          <a:p>
            <a:endParaRPr lang="en-US" dirty="0"/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It tracks stock in real-time, recording every addition, sale, or movement of items automatically.</a:t>
            </a:r>
          </a:p>
          <a:p>
            <a:endParaRPr lang="en-US" dirty="0"/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The system generates alerts for low stock levels to prevent stockouts and overstocking.</a:t>
            </a:r>
          </a:p>
          <a:p>
            <a:endParaRPr lang="en-US" dirty="0"/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It maintains organized records of suppliers, purchases, and sales for accurate inventory management.</a:t>
            </a:r>
          </a:p>
          <a:p>
            <a:endParaRPr lang="en-US" dirty="0"/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The system produces reports on stock trends, turnover, and valuation to aid decision-making.</a:t>
            </a:r>
          </a:p>
          <a:p>
            <a:endParaRPr lang="en-US" dirty="0"/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It reduces human errors common in manual inventory tracking.</a:t>
            </a:r>
          </a:p>
          <a:p>
            <a:endParaRPr lang="en-US" dirty="0"/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The system is scalable and easy to update, handling large volumes of data efficiently.</a:t>
            </a:r>
          </a:p>
          <a:p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Overall, it provides improved accuracy, better resource management, and faster operations compared to traditional systems.</a:t>
            </a:r>
            <a:endParaRPr lang="en-US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diagram of a system&#10;&#10;AI-generated content may be incorrect.">
            <a:extLst>
              <a:ext uri="{FF2B5EF4-FFF2-40B4-BE49-F238E27FC236}">
                <a16:creationId xmlns:a16="http://schemas.microsoft.com/office/drawing/2014/main" id="{D086355A-21D4-DABF-ABAB-D7954A76A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0159" y="2272341"/>
            <a:ext cx="7599872" cy="69715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CB84B2-EAA1-2DB0-36D1-50E479C75FC4}"/>
              </a:ext>
            </a:extLst>
          </p:cNvPr>
          <p:cNvSpPr txBox="1"/>
          <p:nvPr/>
        </p:nvSpPr>
        <p:spPr>
          <a:xfrm>
            <a:off x="2464334" y="2075316"/>
            <a:ext cx="7595557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dirty="0"/>
              <a:t>Input: Users enter data related to inventory, such as new stock, sales, purchases, or supplier details. Input can come from forms, barcode scanners, or manual entry. Processing: The system processes input data to update inventory, check stock levels, and calculate stock availability. It generates alerts, validates transactions, and performs necessary calculations automatically. Database: A relational database stores all inventory data in organized tables with defined relationships (e.g., items, suppliers, sales, purchases). Ensures data integrity, easy retrieval, and real-time updates. Output: Provides real-time reports on stock levels, low-stock alerts, purchase summaries, and sales trends. Helps managers make informed decisions and plan procurement efficiently.</a:t>
            </a:r>
            <a:endParaRPr lang="en-US" sz="28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166668" y="1918659"/>
            <a:ext cx="10337797" cy="106182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dirty="0">
                <a:ea typeface="+mn-lt"/>
                <a:cs typeface="+mn-lt"/>
              </a:rPr>
              <a:t>    </a:t>
            </a:r>
            <a:r>
              <a:rPr lang="en-US" sz="4000" dirty="0">
                <a:ea typeface="+mn-lt"/>
                <a:cs typeface="+mn-lt"/>
              </a:rPr>
              <a:t>[User/Input]</a:t>
            </a:r>
          </a:p>
          <a:p>
            <a:r>
              <a:rPr lang="en-US" sz="4000" dirty="0">
                <a:ea typeface="+mn-lt"/>
                <a:cs typeface="+mn-lt"/>
              </a:rPr>
              <a:t>            |</a:t>
            </a:r>
          </a:p>
          <a:p>
            <a:r>
              <a:rPr lang="en-US" sz="4000" dirty="0">
                <a:ea typeface="+mn-lt"/>
                <a:cs typeface="+mn-lt"/>
              </a:rPr>
              <a:t>            v</a:t>
            </a:r>
          </a:p>
          <a:p>
            <a:r>
              <a:rPr lang="en-US" sz="4000" dirty="0">
                <a:ea typeface="+mn-lt"/>
                <a:cs typeface="+mn-lt"/>
              </a:rPr>
              <a:t>    [Processing Unit]</a:t>
            </a:r>
          </a:p>
          <a:p>
            <a:r>
              <a:rPr lang="en-US" sz="4000" dirty="0">
                <a:ea typeface="+mn-lt"/>
                <a:cs typeface="+mn-lt"/>
              </a:rPr>
              <a:t>            |</a:t>
            </a:r>
          </a:p>
          <a:p>
            <a:r>
              <a:rPr lang="en-US" sz="4000" dirty="0">
                <a:ea typeface="+mn-lt"/>
                <a:cs typeface="+mn-lt"/>
              </a:rPr>
              <a:t>            v</a:t>
            </a:r>
          </a:p>
          <a:p>
            <a:r>
              <a:rPr lang="en-US" sz="4000" dirty="0">
                <a:ea typeface="+mn-lt"/>
                <a:cs typeface="+mn-lt"/>
              </a:rPr>
              <a:t>    [Relational Database]</a:t>
            </a:r>
          </a:p>
          <a:p>
            <a:r>
              <a:rPr lang="en-US" sz="4000" dirty="0">
                <a:ea typeface="+mn-lt"/>
                <a:cs typeface="+mn-lt"/>
              </a:rPr>
              <a:t>            |</a:t>
            </a:r>
          </a:p>
          <a:p>
            <a:r>
              <a:rPr lang="en-US" sz="4000" dirty="0">
                <a:ea typeface="+mn-lt"/>
                <a:cs typeface="+mn-lt"/>
              </a:rPr>
              <a:t>            v</a:t>
            </a:r>
          </a:p>
          <a:p>
            <a:r>
              <a:rPr lang="en-US" sz="4000" dirty="0">
                <a:ea typeface="+mn-lt"/>
                <a:cs typeface="+mn-lt"/>
              </a:rPr>
              <a:t>     [Output/Reports]</a:t>
            </a:r>
          </a:p>
          <a:p>
            <a:endParaRPr lang="en-US" sz="24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794004" cy="125880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Frontend:</a:t>
            </a:r>
            <a:endParaRPr lang="en-US" sz="2800" b="1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HTML, CSS, JavaScript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Bootstrap or Material UI (for responsive design)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Backend</a:t>
            </a:r>
            <a:r>
              <a:rPr lang="en-US" sz="2800" dirty="0">
                <a:ea typeface="+mn-lt"/>
                <a:cs typeface="+mn-lt"/>
              </a:rPr>
              <a:t>: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PHP / Python (Django/Flask) / Node.js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API integration for real-time updates (optional)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Database</a:t>
            </a:r>
            <a:r>
              <a:rPr lang="en-US" sz="2800" dirty="0">
                <a:ea typeface="+mn-lt"/>
                <a:cs typeface="+mn-lt"/>
              </a:rPr>
              <a:t>: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MySQL / PostgreSQL (Relational Database)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Tools</a:t>
            </a:r>
            <a:r>
              <a:rPr lang="en-US" sz="2800" dirty="0">
                <a:ea typeface="+mn-lt"/>
                <a:cs typeface="+mn-lt"/>
              </a:rPr>
              <a:t>: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Visual Studio Code / PyCharm / Sublime Text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phpMyAdmin / </a:t>
            </a:r>
            <a:r>
              <a:rPr lang="en-US" sz="2800" dirty="0" err="1">
                <a:ea typeface="+mn-lt"/>
                <a:cs typeface="+mn-lt"/>
              </a:rPr>
              <a:t>pgAdmin</a:t>
            </a:r>
            <a:r>
              <a:rPr lang="en-US" sz="2800" dirty="0">
                <a:ea typeface="+mn-lt"/>
                <a:cs typeface="+mn-lt"/>
              </a:rPr>
              <a:t> (for database management)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Git / GitHub (version control)</a:t>
            </a:r>
            <a:endParaRPr lang="en-US" sz="28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Hardware/Software Requirements:</a:t>
            </a:r>
            <a:endParaRPr lang="en-US" sz="2800" b="1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Hardware</a:t>
            </a:r>
            <a:r>
              <a:rPr lang="en-US" sz="2800" dirty="0">
                <a:ea typeface="+mn-lt"/>
                <a:cs typeface="+mn-lt"/>
              </a:rPr>
              <a:t>: PC/Laptop with at least 4GB RAM, 500GB storage</a:t>
            </a: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Software</a:t>
            </a:r>
            <a:r>
              <a:rPr lang="en-US" sz="2800" dirty="0">
                <a:ea typeface="+mn-lt"/>
                <a:cs typeface="+mn-lt"/>
              </a:rPr>
              <a:t>: Web browser, MySQL/PostgreSQL server, Python/PHP runtime environment, Internet connection for updates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100950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IN" sz="2800" b="1" dirty="0"/>
          </a:p>
          <a:p>
            <a:r>
              <a:rPr lang="en-IN" sz="2800" b="1" dirty="0">
                <a:ea typeface="+mn-lt"/>
                <a:cs typeface="+mn-lt"/>
              </a:rPr>
              <a:t>Module 1</a:t>
            </a:r>
            <a:r>
              <a:rPr lang="en-IN" sz="2800" dirty="0">
                <a:ea typeface="+mn-lt"/>
                <a:cs typeface="+mn-lt"/>
              </a:rPr>
              <a:t>: User Management</a:t>
            </a:r>
            <a:endParaRPr lang="en-IN" dirty="0">
              <a:ea typeface="Calibri"/>
              <a:cs typeface="Calibri"/>
            </a:endParaRPr>
          </a:p>
          <a:p>
            <a:r>
              <a:rPr lang="en-IN" sz="2800" dirty="0">
                <a:ea typeface="+mn-lt"/>
                <a:cs typeface="+mn-lt"/>
              </a:rPr>
              <a:t>Handles user registration, login, and role-based access control to ensure secure system usage.</a:t>
            </a:r>
            <a:endParaRPr lang="en-IN" dirty="0">
              <a:ea typeface="Calibri"/>
              <a:cs typeface="Calibri"/>
            </a:endParaRPr>
          </a:p>
          <a:p>
            <a:endParaRPr lang="en-IN" dirty="0">
              <a:ea typeface="Calibri"/>
              <a:cs typeface="Calibri"/>
            </a:endParaRPr>
          </a:p>
          <a:p>
            <a:r>
              <a:rPr lang="en-IN" sz="2800" b="1" dirty="0">
                <a:ea typeface="+mn-lt"/>
                <a:cs typeface="+mn-lt"/>
              </a:rPr>
              <a:t>Module 2</a:t>
            </a:r>
            <a:r>
              <a:rPr lang="en-IN" sz="2800" dirty="0">
                <a:ea typeface="+mn-lt"/>
                <a:cs typeface="+mn-lt"/>
              </a:rPr>
              <a:t>: Inventory Management</a:t>
            </a:r>
            <a:endParaRPr lang="en-IN" dirty="0">
              <a:ea typeface="Calibri"/>
              <a:cs typeface="Calibri"/>
            </a:endParaRPr>
          </a:p>
          <a:p>
            <a:r>
              <a:rPr lang="en-IN" sz="2800" dirty="0">
                <a:ea typeface="+mn-lt"/>
                <a:cs typeface="+mn-lt"/>
              </a:rPr>
              <a:t>Manages stock entries, updates, and deletions; tracks product quantities and movements in real-time.</a:t>
            </a:r>
            <a:endParaRPr lang="en-IN" dirty="0">
              <a:ea typeface="Calibri"/>
              <a:cs typeface="Calibri"/>
            </a:endParaRPr>
          </a:p>
          <a:p>
            <a:endParaRPr lang="en-IN" dirty="0">
              <a:ea typeface="Calibri"/>
              <a:cs typeface="Calibri"/>
            </a:endParaRPr>
          </a:p>
          <a:p>
            <a:r>
              <a:rPr lang="en-IN" sz="2800" b="1" dirty="0">
                <a:ea typeface="+mn-lt"/>
                <a:cs typeface="+mn-lt"/>
              </a:rPr>
              <a:t>Module 3</a:t>
            </a:r>
            <a:r>
              <a:rPr lang="en-IN" sz="2800" dirty="0">
                <a:ea typeface="+mn-lt"/>
                <a:cs typeface="+mn-lt"/>
              </a:rPr>
              <a:t>: Supplier &amp; Purchase Management</a:t>
            </a:r>
            <a:endParaRPr lang="en-IN" dirty="0">
              <a:ea typeface="Calibri"/>
              <a:cs typeface="Calibri"/>
            </a:endParaRPr>
          </a:p>
          <a:p>
            <a:r>
              <a:rPr lang="en-IN" sz="2800" dirty="0">
                <a:ea typeface="+mn-lt"/>
                <a:cs typeface="+mn-lt"/>
              </a:rPr>
              <a:t>Maintains supplier details, purchase orders, and delivery records to streamline procurement.</a:t>
            </a:r>
            <a:endParaRPr lang="en-IN" dirty="0">
              <a:ea typeface="Calibri"/>
              <a:cs typeface="Calibri"/>
            </a:endParaRPr>
          </a:p>
          <a:p>
            <a:endParaRPr lang="en-IN" dirty="0">
              <a:ea typeface="Calibri"/>
              <a:cs typeface="Calibri"/>
            </a:endParaRPr>
          </a:p>
          <a:p>
            <a:r>
              <a:rPr lang="en-IN" sz="2800" b="1" dirty="0">
                <a:ea typeface="+mn-lt"/>
                <a:cs typeface="+mn-lt"/>
              </a:rPr>
              <a:t>Module 4</a:t>
            </a:r>
            <a:r>
              <a:rPr lang="en-IN" sz="2800" dirty="0">
                <a:ea typeface="+mn-lt"/>
                <a:cs typeface="+mn-lt"/>
              </a:rPr>
              <a:t>: Sales &amp; Order Management</a:t>
            </a:r>
            <a:endParaRPr lang="en-IN" dirty="0">
              <a:ea typeface="Calibri"/>
              <a:cs typeface="Calibri"/>
            </a:endParaRPr>
          </a:p>
          <a:p>
            <a:r>
              <a:rPr lang="en-IN" sz="2800" dirty="0">
                <a:ea typeface="+mn-lt"/>
                <a:cs typeface="+mn-lt"/>
              </a:rPr>
              <a:t>Processes sales, updates inventory automatically, and tracks order </a:t>
            </a:r>
            <a:r>
              <a:rPr lang="en-IN" sz="2800" dirty="0" err="1">
                <a:ea typeface="+mn-lt"/>
                <a:cs typeface="+mn-lt"/>
              </a:rPr>
              <a:t>fulfillment</a:t>
            </a:r>
            <a:r>
              <a:rPr lang="en-IN" sz="2800" dirty="0">
                <a:ea typeface="+mn-lt"/>
                <a:cs typeface="+mn-lt"/>
              </a:rPr>
              <a:t>.</a:t>
            </a:r>
            <a:endParaRPr lang="en-IN" dirty="0">
              <a:ea typeface="Calibri"/>
              <a:cs typeface="Calibri"/>
            </a:endParaRPr>
          </a:p>
          <a:p>
            <a:endParaRPr lang="en-IN" dirty="0">
              <a:ea typeface="Calibri"/>
              <a:cs typeface="Calibri"/>
            </a:endParaRPr>
          </a:p>
          <a:p>
            <a:r>
              <a:rPr lang="en-IN" sz="2800" b="1" dirty="0">
                <a:ea typeface="+mn-lt"/>
                <a:cs typeface="+mn-lt"/>
              </a:rPr>
              <a:t>Module 5</a:t>
            </a:r>
            <a:r>
              <a:rPr lang="en-IN" sz="2800" dirty="0">
                <a:ea typeface="+mn-lt"/>
                <a:cs typeface="+mn-lt"/>
              </a:rPr>
              <a:t>: Database Management</a:t>
            </a:r>
            <a:endParaRPr lang="en-IN" dirty="0">
              <a:ea typeface="Calibri"/>
              <a:cs typeface="Calibri"/>
            </a:endParaRPr>
          </a:p>
          <a:p>
            <a:r>
              <a:rPr lang="en-IN" sz="2800" dirty="0">
                <a:ea typeface="+mn-lt"/>
                <a:cs typeface="+mn-lt"/>
              </a:rPr>
              <a:t>Stores and organizes inventory, supplier, and sales data in a relational database, ensuring integrity and easy retrieval.</a:t>
            </a:r>
            <a:endParaRPr lang="en-IN" dirty="0">
              <a:ea typeface="Calibri"/>
              <a:cs typeface="Calibri"/>
            </a:endParaRPr>
          </a:p>
          <a:p>
            <a:endParaRPr lang="en-IN" dirty="0">
              <a:ea typeface="Calibri"/>
              <a:cs typeface="Calibri"/>
            </a:endParaRPr>
          </a:p>
          <a:p>
            <a:r>
              <a:rPr lang="en-IN" sz="2800" b="1" dirty="0">
                <a:ea typeface="+mn-lt"/>
                <a:cs typeface="+mn-lt"/>
              </a:rPr>
              <a:t>Module 6</a:t>
            </a:r>
            <a:r>
              <a:rPr lang="en-IN" sz="2800" dirty="0">
                <a:ea typeface="+mn-lt"/>
                <a:cs typeface="+mn-lt"/>
              </a:rPr>
              <a:t>: Reporting &amp; Alerts</a:t>
            </a:r>
            <a:endParaRPr lang="en-IN" dirty="0">
              <a:ea typeface="Calibri"/>
              <a:cs typeface="Calibri"/>
            </a:endParaRPr>
          </a:p>
          <a:p>
            <a:r>
              <a:rPr lang="en-IN" sz="2800" dirty="0">
                <a:ea typeface="+mn-lt"/>
                <a:cs typeface="+mn-lt"/>
              </a:rPr>
              <a:t>Generates stock reports, low-stock alerts, and sales analytics for informed decision-making.</a:t>
            </a:r>
            <a:endParaRPr lang="en-IN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16CB0315-7883-9497-5755-6757562A9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170" y="1672716"/>
            <a:ext cx="14312662" cy="670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721247-5884-28D2-78E8-2E789FE19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415" y="1562458"/>
            <a:ext cx="14636151" cy="798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F1FDA9-74C6-1C50-B917-C99224D29C72}"/>
              </a:ext>
            </a:extLst>
          </p:cNvPr>
          <p:cNvSpPr txBox="1"/>
          <p:nvPr/>
        </p:nvSpPr>
        <p:spPr>
          <a:xfrm>
            <a:off x="1958839" y="1366043"/>
            <a:ext cx="15035840" cy="85869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+mn-lt"/>
                <a:cs typeface="+mn-lt"/>
              </a:rPr>
              <a:t>Advantages</a:t>
            </a:r>
            <a:endParaRPr lang="en-US" sz="2400" b="1" dirty="0"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Real-time Inventory Tracking: Keeps stock levels updated automatically, reducing errors.</a:t>
            </a:r>
            <a:endParaRPr lang="en-US" sz="2800" dirty="0">
              <a:ea typeface="Calibri"/>
              <a:cs typeface="Calibri"/>
            </a:endParaRPr>
          </a:p>
          <a:p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Efficient Stock Management: Prevents overstocking and stockouts with alerts for low inventory.</a:t>
            </a:r>
            <a:endParaRPr lang="en-US" sz="2800" dirty="0">
              <a:ea typeface="Calibri"/>
              <a:cs typeface="Calibri"/>
            </a:endParaRPr>
          </a:p>
          <a:p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Improved Decision-Making: Generates reports and analytics for better procurement and sales planning.</a:t>
            </a:r>
            <a:endParaRPr lang="en-US" sz="2800" dirty="0">
              <a:ea typeface="Calibri"/>
              <a:cs typeface="Calibri"/>
            </a:endParaRPr>
          </a:p>
          <a:p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Time &amp; Cost Saving: Reduces manual work and operational inefficiencies.</a:t>
            </a:r>
            <a:endParaRPr lang="en-US" sz="2800" dirty="0">
              <a:ea typeface="Calibri"/>
              <a:cs typeface="Calibri"/>
            </a:endParaRPr>
          </a:p>
          <a:p>
            <a:endParaRPr lang="en-US" sz="2800" dirty="0">
              <a:ea typeface="Calibri"/>
              <a:cs typeface="Calibri"/>
            </a:endParaRPr>
          </a:p>
          <a:p>
            <a:r>
              <a:rPr lang="en-US" sz="2800" b="1" dirty="0">
                <a:ea typeface="+mn-lt"/>
                <a:cs typeface="+mn-lt"/>
              </a:rPr>
              <a:t>Limitations</a:t>
            </a:r>
            <a:endParaRPr lang="en-US" sz="2400" b="1" dirty="0"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Initial Setup Cost: Implementation may require investment in software, hardware, and training.</a:t>
            </a:r>
            <a:endParaRPr lang="en-US" sz="2800" dirty="0">
              <a:ea typeface="Calibri"/>
              <a:cs typeface="Calibri"/>
            </a:endParaRPr>
          </a:p>
          <a:p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Technical Expertise Required: Users need basic knowledge of the system to operate effectively.</a:t>
            </a:r>
            <a:endParaRPr lang="en-US" sz="2800" dirty="0">
              <a:ea typeface="Calibri"/>
              <a:cs typeface="Calibri"/>
            </a:endParaRPr>
          </a:p>
          <a:p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Dependence on Database &amp; System: System failure or database corruption can disrupt operations.</a:t>
            </a:r>
            <a:endParaRPr lang="en-US" sz="2800" dirty="0">
              <a:ea typeface="Calibri"/>
              <a:cs typeface="Calibri"/>
            </a:endParaRPr>
          </a:p>
          <a:p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Scalability Challenges: May need upgrades for very large inventories or multiple locations.</a:t>
            </a:r>
            <a:endParaRPr lang="en-US" sz="28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343FB3-EF65-54EB-22C9-E969B39193DD}"/>
              </a:ext>
            </a:extLst>
          </p:cNvPr>
          <p:cNvSpPr/>
          <p:nvPr/>
        </p:nvSpPr>
        <p:spPr>
          <a:xfrm>
            <a:off x="1852076" y="2398971"/>
            <a:ext cx="76200" cy="762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17B4623-FC01-DC7F-4917-F02F536C164C}"/>
              </a:ext>
            </a:extLst>
          </p:cNvPr>
          <p:cNvSpPr/>
          <p:nvPr/>
        </p:nvSpPr>
        <p:spPr>
          <a:xfrm>
            <a:off x="1852076" y="3244914"/>
            <a:ext cx="76200" cy="762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E7D5375-6326-310D-23A0-7EA7F046B947}"/>
              </a:ext>
            </a:extLst>
          </p:cNvPr>
          <p:cNvSpPr/>
          <p:nvPr/>
        </p:nvSpPr>
        <p:spPr>
          <a:xfrm>
            <a:off x="1852076" y="4090857"/>
            <a:ext cx="76200" cy="762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90BED3A-D4AB-5D2E-DF0F-D39581E472C1}"/>
              </a:ext>
            </a:extLst>
          </p:cNvPr>
          <p:cNvSpPr/>
          <p:nvPr/>
        </p:nvSpPr>
        <p:spPr>
          <a:xfrm>
            <a:off x="1852076" y="5351750"/>
            <a:ext cx="76200" cy="762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60AC92E-EAD7-8D2D-70F6-15E0C6253BBB}"/>
              </a:ext>
            </a:extLst>
          </p:cNvPr>
          <p:cNvSpPr/>
          <p:nvPr/>
        </p:nvSpPr>
        <p:spPr>
          <a:xfrm>
            <a:off x="1881060" y="7070516"/>
            <a:ext cx="76200" cy="762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D9EC3A1-E2DD-BCD0-2315-59AE2AC40D9F}"/>
              </a:ext>
            </a:extLst>
          </p:cNvPr>
          <p:cNvSpPr/>
          <p:nvPr/>
        </p:nvSpPr>
        <p:spPr>
          <a:xfrm>
            <a:off x="1881060" y="7888029"/>
            <a:ext cx="76200" cy="762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F5ACB6E-C8A5-5CB8-F0C6-A81549124473}"/>
              </a:ext>
            </a:extLst>
          </p:cNvPr>
          <p:cNvSpPr/>
          <p:nvPr/>
        </p:nvSpPr>
        <p:spPr>
          <a:xfrm>
            <a:off x="1852076" y="8724302"/>
            <a:ext cx="76200" cy="762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1FF61F1-CFD9-7A9D-0AAD-2A3E7890455C}"/>
              </a:ext>
            </a:extLst>
          </p:cNvPr>
          <p:cNvSpPr/>
          <p:nvPr/>
        </p:nvSpPr>
        <p:spPr>
          <a:xfrm>
            <a:off x="1852076" y="9584134"/>
            <a:ext cx="76200" cy="762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1097</Words>
  <Application>Microsoft Office PowerPoint</Application>
  <PresentationFormat>Custom</PresentationFormat>
  <Paragraphs>298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Bookman Old Style</vt:lpstr>
      <vt:lpstr>Arial</vt:lpstr>
      <vt:lpstr>Calibri</vt:lpstr>
      <vt:lpstr>Times New Roman</vt:lpstr>
      <vt:lpstr>Cambria</vt:lpstr>
      <vt:lpstr>Gotham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JAHNAVI SATYA</dc:creator>
  <cp:lastModifiedBy>mommineedijahnavisatya@gmail.com</cp:lastModifiedBy>
  <cp:revision>88</cp:revision>
  <dcterms:created xsi:type="dcterms:W3CDTF">2006-08-16T00:00:00Z</dcterms:created>
  <dcterms:modified xsi:type="dcterms:W3CDTF">2026-03-25T04:47:33Z</dcterms:modified>
  <dc:identifier>DAHCaYqJ9OU</dc:identifier>
</cp:coreProperties>
</file>